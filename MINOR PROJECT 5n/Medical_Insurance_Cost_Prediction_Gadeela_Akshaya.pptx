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869680" y="731520"/>
            <a:ext cx="2286000" cy="2286000"/>
          </a:xfrm>
          <a:prstGeom prst="roundRect">
            <a:avLst/>
          </a:prstGeom>
          <a:solidFill>
            <a:srgbClr val="36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66960" y="2834640"/>
            <a:ext cx="1371600" cy="1371600"/>
          </a:xfrm>
          <a:prstGeom prst="round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955279" y="3977639"/>
            <a:ext cx="1828800" cy="1645920"/>
          </a:xfrm>
          <a:prstGeom prst="roundRect">
            <a:avLst/>
          </a:prstGeom>
          <a:solidFill>
            <a:srgbClr val="284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05840"/>
            <a:ext cx="7863840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Aptos Display"/>
              </a:defRPr>
            </a:pPr>
            <a:r>
              <a:t>MEDICAL INSURANCE</a:t>
            </a:r>
            <a:br/>
            <a:r>
              <a:t>COST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37560"/>
            <a:ext cx="7315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CDDCEF"/>
                </a:solidFill>
              </a:defRPr>
            </a:pPr>
            <a:r>
              <a:t>AIML Minor Project |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166360"/>
            <a:ext cx="7315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Presented by: GADEELA AKSHAYA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B4C"/>
                </a:solidFill>
                <a:latin typeface="Aptos Display"/>
              </a:defRPr>
            </a:pPr>
            <a:r>
              <a:t>1. 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6"/>
                </a:solidFill>
              </a:defRPr>
            </a:pPr>
            <a:r>
              <a:t>What problem are we trying to solve?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1005840" cy="50292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A303A"/>
                </a:solidFill>
                <a:latin typeface="Aptos"/>
              </a:defRPr>
            </a:pPr>
            <a:r>
              <a:t>Medical insurance charges vary across individuals and may be associated with age, BMI, smoking status, family size, and region.</a:t>
            </a:r>
          </a:p>
          <a:p>
            <a:pPr>
              <a:spcAft>
                <a:spcPts val="1400"/>
              </a:spcAft>
              <a:defRPr sz="2000">
                <a:solidFill>
                  <a:srgbClr val="2A303A"/>
                </a:solidFill>
                <a:latin typeface="Aptos"/>
              </a:defRPr>
            </a:pPr>
            <a:r>
              <a:t>Objective: explore the dataset and build a machine-learning model to estimate insurance charges.</a:t>
            </a:r>
          </a:p>
          <a:p>
            <a:pPr>
              <a:spcAft>
                <a:spcPts val="1400"/>
              </a:spcAft>
              <a:defRPr sz="2000">
                <a:solidFill>
                  <a:srgbClr val="2A303A"/>
                </a:solidFill>
                <a:latin typeface="Aptos"/>
              </a:defRPr>
            </a:pPr>
            <a:r>
              <a:t>Problem type: supervised learning — regression.</a:t>
            </a:r>
          </a:p>
          <a:p>
            <a:pPr>
              <a:spcAft>
                <a:spcPts val="1400"/>
              </a:spcAft>
              <a:defRPr sz="2000">
                <a:solidFill>
                  <a:srgbClr val="2A303A"/>
                </a:solidFill>
                <a:latin typeface="Aptos"/>
              </a:defRPr>
            </a:pPr>
            <a:r>
              <a:t>Target variable: charges.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6"/>
                </a:solidFill>
              </a:defRPr>
            </a:pPr>
            <a:r>
              <a:t>GADEELA AKSHAYA  |  AIML Minor Project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B4C"/>
                </a:solidFill>
                <a:latin typeface="Aptos Display"/>
              </a:defRPr>
            </a:pPr>
            <a:r>
              <a:t>2. 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6"/>
                </a:solidFill>
              </a:defRPr>
            </a:pPr>
            <a:r>
              <a:t>Medical Cost Personal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1005840" cy="50292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429000" cy="1417320"/>
          </a:xfrm>
          <a:prstGeom prst="roundRect">
            <a:avLst/>
          </a:prstGeom>
          <a:solidFill>
            <a:srgbClr val="EEF4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669B4"/>
                </a:solidFill>
              </a:defRPr>
            </a:pPr>
            <a:r>
              <a:t>Dataset 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50008"/>
            <a:ext cx="30632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A303A"/>
                </a:solidFill>
              </a:defRPr>
            </a:pPr>
            <a:r>
              <a:t>Kaggle — Medical Cost Personal Dataset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83080"/>
            <a:ext cx="3429000" cy="1417320"/>
          </a:xfrm>
          <a:prstGeom prst="roundRect">
            <a:avLst/>
          </a:prstGeom>
          <a:solidFill>
            <a:srgbClr val="EEF4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920240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9191"/>
                </a:solidFill>
              </a:defRPr>
            </a:pPr>
            <a:r>
              <a:t>Input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50008"/>
            <a:ext cx="30632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A303A"/>
                </a:solidFill>
              </a:defRPr>
            </a:pPr>
            <a:r>
              <a:t>Age, sex, BMI, children, smoker, region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83080"/>
            <a:ext cx="3429000" cy="1417320"/>
          </a:xfrm>
          <a:prstGeom prst="roundRect">
            <a:avLst/>
          </a:prstGeom>
          <a:solidFill>
            <a:srgbClr val="EEF4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20240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2822D"/>
                </a:solidFill>
              </a:defRPr>
            </a:pPr>
            <a:r>
              <a:t>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350008"/>
            <a:ext cx="30632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A303A"/>
                </a:solidFill>
              </a:defRPr>
            </a:pPr>
            <a:r>
              <a:t>charges — insurance costs in dataset units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03320"/>
            <a:ext cx="10698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A303A"/>
                </a:solidFill>
                <a:latin typeface="Aptos"/>
              </a:defRPr>
            </a:pPr>
            <a:r>
              <a:t>Each row represents an individual's insurance record.</a:t>
            </a:r>
          </a:p>
          <a:p>
            <a:pPr>
              <a:spcAft>
                <a:spcPts val="1400"/>
              </a:spcAft>
              <a:defRPr sz="1800">
                <a:solidFill>
                  <a:srgbClr val="2A303A"/>
                </a:solidFill>
                <a:latin typeface="Aptos"/>
              </a:defRPr>
            </a:pPr>
            <a:r>
              <a:t>The notebook checks dataset shape, data types, missing values, duplicates, and summary statistics.</a:t>
            </a:r>
          </a:p>
          <a:p>
            <a:pPr>
              <a:spcAft>
                <a:spcPts val="1400"/>
              </a:spcAft>
              <a:defRPr sz="1800">
                <a:solidFill>
                  <a:srgbClr val="2A303A"/>
                </a:solidFill>
                <a:latin typeface="Aptos"/>
              </a:defRPr>
            </a:pPr>
            <a:r>
              <a:t>Dataset: kaggle.com/datasets/mirichoi0218/insurance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6"/>
                </a:solidFill>
              </a:defRPr>
            </a:pPr>
            <a:r>
              <a:t>GADEELA AKSHAYA  |  AIML Minor Project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B4C"/>
                </a:solidFill>
                <a:latin typeface="Aptos Display"/>
              </a:defRPr>
            </a:pPr>
            <a:r>
              <a:t>3. Data Cleaning &amp;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6"/>
                </a:solidFill>
              </a:defRPr>
            </a:pPr>
            <a:r>
              <a:t>Preparing the data for modelling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1005840" cy="50292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A303A"/>
                </a:solidFill>
                <a:latin typeface="Aptos"/>
              </a:defRPr>
            </a:pPr>
            <a:r>
              <a:t>Inspect missing values, duplicate rows, column names, and data types.</a:t>
            </a:r>
          </a:p>
          <a:p>
            <a:pPr>
              <a:spcAft>
                <a:spcPts val="1400"/>
              </a:spcAft>
              <a:defRPr sz="1800">
                <a:solidFill>
                  <a:srgbClr val="2A303A"/>
                </a:solidFill>
                <a:latin typeface="Aptos"/>
              </a:defRPr>
            </a:pPr>
            <a:r>
              <a:t>Remove exact duplicate records and standardize column labels.</a:t>
            </a:r>
          </a:p>
          <a:p>
            <a:pPr>
              <a:spcAft>
                <a:spcPts val="1400"/>
              </a:spcAft>
              <a:defRPr sz="1800">
                <a:solidFill>
                  <a:srgbClr val="2A303A"/>
                </a:solidFill>
                <a:latin typeface="Aptos"/>
              </a:defRPr>
            </a:pPr>
            <a:r>
              <a:t>Convert age, BMI, children, and charges to numeric values.</a:t>
            </a:r>
          </a:p>
          <a:p>
            <a:pPr>
              <a:spcAft>
                <a:spcPts val="1400"/>
              </a:spcAft>
              <a:defRPr sz="1800">
                <a:solidFill>
                  <a:srgbClr val="2A303A"/>
                </a:solidFill>
                <a:latin typeface="Aptos"/>
              </a:defRPr>
            </a:pPr>
            <a:r>
              <a:t>Impute missing numeric features with the median and categorical features with the most frequent value.</a:t>
            </a:r>
          </a:p>
          <a:p>
            <a:pPr>
              <a:spcAft>
                <a:spcPts val="1400"/>
              </a:spcAft>
              <a:defRPr sz="1800">
                <a:solidFill>
                  <a:srgbClr val="2A303A"/>
                </a:solidFill>
                <a:latin typeface="Aptos"/>
              </a:defRPr>
            </a:pPr>
            <a:r>
              <a:t>Apply one-hot encoding to categorical variables and scaling to numeric features.</a:t>
            </a:r>
          </a:p>
          <a:p>
            <a:pPr>
              <a:spcAft>
                <a:spcPts val="1400"/>
              </a:spcAft>
              <a:defRPr sz="1800">
                <a:solidFill>
                  <a:srgbClr val="2A303A"/>
                </a:solidFill>
                <a:latin typeface="Aptos"/>
              </a:defRPr>
            </a:pPr>
            <a:r>
              <a:t>Split records into training (80%) and testing (20%) sets.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6"/>
                </a:solidFill>
              </a:defRPr>
            </a:pPr>
            <a:r>
              <a:t>GADEELA AKSHAYA  |  AIML Minor Project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B4C"/>
                </a:solidFill>
                <a:latin typeface="Aptos Display"/>
              </a:defRPr>
            </a:pPr>
            <a:r>
              <a:t>4. 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6"/>
                </a:solidFill>
              </a:defRPr>
            </a:pPr>
            <a:r>
              <a:t>Five visualizations are included in the notebook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1005840" cy="50292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246120" cy="1508760"/>
          </a:xfrm>
          <a:prstGeom prst="roundRect">
            <a:avLst/>
          </a:prstGeom>
          <a:solidFill>
            <a:srgbClr val="EEF4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880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669B4"/>
                </a:solidFill>
              </a:defRPr>
            </a:pPr>
            <a:r>
              <a:t>Charge 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04288"/>
            <a:ext cx="288036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A303A"/>
                </a:solidFill>
              </a:defRPr>
            </a:pPr>
            <a:r>
              <a:t>Histogram shows the distribution and spread of insurance charges.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37360"/>
            <a:ext cx="3246120" cy="1508760"/>
          </a:xfrm>
          <a:prstGeom prst="roundRect">
            <a:avLst/>
          </a:prstGeom>
          <a:solidFill>
            <a:srgbClr val="EEF4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874519"/>
            <a:ext cx="2880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9191"/>
                </a:solidFill>
              </a:defRPr>
            </a:pPr>
            <a:r>
              <a:t>Charges by smoking 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304288"/>
            <a:ext cx="288036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A303A"/>
                </a:solidFill>
              </a:defRPr>
            </a:pPr>
            <a:r>
              <a:t>Box plot compares charge levels for smokers and non-smokers.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37360"/>
            <a:ext cx="3246120" cy="1508760"/>
          </a:xfrm>
          <a:prstGeom prst="roundRect">
            <a:avLst/>
          </a:prstGeom>
          <a:solidFill>
            <a:srgbClr val="EEF4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874519"/>
            <a:ext cx="2880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669B4"/>
                </a:solidFill>
              </a:defRPr>
            </a:pPr>
            <a:r>
              <a:t>Age vs charges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304288"/>
            <a:ext cx="288036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A303A"/>
                </a:solidFill>
              </a:defRPr>
            </a:pPr>
            <a:r>
              <a:t>Scatter plot explores age patterns, separated by smoking status.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3703320"/>
            <a:ext cx="3246120" cy="1508760"/>
          </a:xfrm>
          <a:prstGeom prst="roundRect">
            <a:avLst/>
          </a:prstGeom>
          <a:solidFill>
            <a:srgbClr val="EEF4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3840480"/>
            <a:ext cx="2880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669B4"/>
                </a:solidFill>
              </a:defRPr>
            </a:pPr>
            <a:r>
              <a:t>Average charges by region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270248"/>
            <a:ext cx="288036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A303A"/>
                </a:solidFill>
              </a:defRPr>
            </a:pPr>
            <a:r>
              <a:t>Bar chart compares average charges across regions.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703320"/>
            <a:ext cx="3246120" cy="1508760"/>
          </a:xfrm>
          <a:prstGeom prst="roundRect">
            <a:avLst/>
          </a:prstGeom>
          <a:solidFill>
            <a:srgbClr val="EEF4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840480"/>
            <a:ext cx="2880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669B4"/>
                </a:solidFill>
              </a:defRPr>
            </a:pPr>
            <a:r>
              <a:t>BMI vs charges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270248"/>
            <a:ext cx="288036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A303A"/>
                </a:solidFill>
              </a:defRPr>
            </a:pPr>
            <a:r>
              <a:t>Scatter plot examines the relationship between BMI and charges.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6"/>
                </a:solidFill>
              </a:defRPr>
            </a:pPr>
            <a:r>
              <a:t>GADEELA AKSHAYA  |  AIML Minor Project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B4C"/>
                </a:solidFill>
                <a:latin typeface="Aptos Display"/>
              </a:defRPr>
            </a:pPr>
            <a:r>
              <a:t>5. Machine Learning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6"/>
                </a:solidFill>
              </a:defRPr>
            </a:pPr>
            <a:r>
              <a:t>Two regression models are trained and compared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1005840" cy="50292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4754880" cy="1737360"/>
          </a:xfrm>
          <a:prstGeom prst="roundRect">
            <a:avLst/>
          </a:prstGeom>
          <a:solidFill>
            <a:srgbClr val="EEF4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20240"/>
            <a:ext cx="4389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669B4"/>
                </a:solidFill>
              </a:defRPr>
            </a:pPr>
            <a:r>
              <a:t>Linear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50008"/>
            <a:ext cx="43891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A303A"/>
                </a:solidFill>
              </a:defRPr>
            </a:pPr>
            <a:r>
              <a:t>A baseline model that estimates a linear relationship between features and insurance charges.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783080"/>
            <a:ext cx="4754880" cy="1737360"/>
          </a:xfrm>
          <a:prstGeom prst="roundRect">
            <a:avLst/>
          </a:prstGeom>
          <a:solidFill>
            <a:srgbClr val="EEF4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920240"/>
            <a:ext cx="4389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9191"/>
                </a:solidFill>
              </a:defRPr>
            </a:pPr>
            <a:r>
              <a:t>Random Forest Regressor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350008"/>
            <a:ext cx="43891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A303A"/>
                </a:solidFill>
              </a:defRPr>
            </a:pPr>
            <a:r>
              <a:t>An ensemble of decision trees that can capture more complex, non-linear patterns.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39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A303A"/>
                </a:solidFill>
                <a:latin typeface="Aptos"/>
              </a:defRPr>
            </a:pPr>
            <a:r>
              <a:t>Preprocessing is kept in scikit-learn pipelines to reduce data leakage.</a:t>
            </a:r>
          </a:p>
          <a:p>
            <a:pPr>
              <a:spcAft>
                <a:spcPts val="1400"/>
              </a:spcAft>
              <a:defRPr sz="1800">
                <a:solidFill>
                  <a:srgbClr val="2A303A"/>
                </a:solidFill>
                <a:latin typeface="Aptos"/>
              </a:defRPr>
            </a:pPr>
            <a:r>
              <a:t>The test set contains records not used to fit the models.</a:t>
            </a:r>
          </a:p>
          <a:p>
            <a:pPr>
              <a:spcAft>
                <a:spcPts val="1400"/>
              </a:spcAft>
              <a:defRPr sz="1800">
                <a:solidFill>
                  <a:srgbClr val="2A303A"/>
                </a:solidFill>
                <a:latin typeface="Aptos"/>
              </a:defRPr>
            </a:pPr>
            <a:r>
              <a:t>Model comparison uses MAE, RMSE, and R².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6"/>
                </a:solidFill>
              </a:defRPr>
            </a:pPr>
            <a:r>
              <a:t>GADEELA AKSHAYA  |  AIML Minor Project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B4C"/>
                </a:solidFill>
                <a:latin typeface="Aptos Display"/>
              </a:defRPr>
            </a:pPr>
            <a:r>
              <a:t>6. Model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6"/>
                </a:solidFill>
              </a:defRPr>
            </a:pPr>
            <a:r>
              <a:t>Metrics are calculated when the notebook is run in Google Colab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1005840" cy="50292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29000" cy="1554480"/>
          </a:xfrm>
          <a:prstGeom prst="roundRect">
            <a:avLst/>
          </a:prstGeom>
          <a:solidFill>
            <a:srgbClr val="EEF4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669B4"/>
                </a:solidFill>
              </a:defRPr>
            </a:pPr>
            <a:r>
              <a:t>MAE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95728"/>
            <a:ext cx="30632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A303A"/>
                </a:solidFill>
              </a:defRPr>
            </a:pPr>
            <a:r>
              <a:t>Mean Absolute Error</a:t>
            </a:r>
            <a:br/>
            <a:r>
              <a:t>Interpretation: lower is better.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29000" cy="1554480"/>
          </a:xfrm>
          <a:prstGeom prst="roundRect">
            <a:avLst/>
          </a:prstGeom>
          <a:solidFill>
            <a:srgbClr val="EEF4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965960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9191"/>
                </a:solidFill>
              </a:defRPr>
            </a:pPr>
            <a:r>
              <a:t>RMSE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95728"/>
            <a:ext cx="30632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A303A"/>
                </a:solidFill>
              </a:defRPr>
            </a:pPr>
            <a:r>
              <a:t>Root Mean Squared Error</a:t>
            </a:r>
            <a:br/>
            <a:r>
              <a:t>Penalizes larger errors; lower is better.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429000" cy="1554480"/>
          </a:xfrm>
          <a:prstGeom prst="roundRect">
            <a:avLst/>
          </a:prstGeom>
          <a:solidFill>
            <a:srgbClr val="EEF4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65960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2822D"/>
                </a:solidFill>
              </a:defRPr>
            </a:pPr>
            <a:r>
              <a:t>R²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395728"/>
            <a:ext cx="30632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A303A"/>
                </a:solidFill>
              </a:defRPr>
            </a:pPr>
            <a:r>
              <a:t>Coefficient of determination</a:t>
            </a:r>
            <a:br/>
            <a:r>
              <a:t>Closer to 1 generally indicates a better fit.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77639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A303A"/>
                </a:solidFill>
                <a:latin typeface="Aptos"/>
              </a:defRPr>
            </a:pPr>
            <a:r>
              <a:t>Use the results table printed by the notebook to report the actual values.</a:t>
            </a:r>
          </a:p>
          <a:p>
            <a:pPr>
              <a:spcAft>
                <a:spcPts val="1400"/>
              </a:spcAft>
              <a:defRPr sz="1800">
                <a:solidFill>
                  <a:srgbClr val="2A303A"/>
                </a:solidFill>
                <a:latin typeface="Aptos"/>
              </a:defRPr>
            </a:pPr>
            <a:r>
              <a:t>Do not enter estimated or invented numbers. Copy the MAE, RMSE, and R² for both models from your executed run.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6"/>
                </a:solidFill>
              </a:defRPr>
            </a:pPr>
            <a:r>
              <a:t>GADEELA AKSHAYA  |  AIML Minor Project             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B4C"/>
                </a:solidFill>
                <a:latin typeface="Aptos Display"/>
              </a:defRPr>
            </a:pPr>
            <a:r>
              <a:t>7. Results &amp;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6"/>
                </a:solidFill>
              </a:defRPr>
            </a:pPr>
            <a:r>
              <a:t>How to interpret the plots generated by the notebook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1005840" cy="50292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A303A"/>
                </a:solidFill>
                <a:latin typeface="Aptos"/>
              </a:defRPr>
            </a:pPr>
            <a:r>
              <a:t>Actual vs Predicted: points closer to the diagonal indicate more accurate predictions.</a:t>
            </a:r>
          </a:p>
          <a:p>
            <a:pPr>
              <a:spcAft>
                <a:spcPts val="1400"/>
              </a:spcAft>
              <a:defRPr sz="1800">
                <a:solidFill>
                  <a:srgbClr val="2A303A"/>
                </a:solidFill>
                <a:latin typeface="Aptos"/>
              </a:defRPr>
            </a:pPr>
            <a:r>
              <a:t>Residual plot: residuals are actual charges minus predicted charges; visible patterns can indicate systematic errors.</a:t>
            </a:r>
          </a:p>
          <a:p>
            <a:pPr>
              <a:spcAft>
                <a:spcPts val="1400"/>
              </a:spcAft>
              <a:defRPr sz="1800">
                <a:solidFill>
                  <a:srgbClr val="2A303A"/>
                </a:solidFill>
                <a:latin typeface="Aptos"/>
              </a:defRPr>
            </a:pPr>
            <a:r>
              <a:t>Feature importance: the Random Forest ranks input features by their contribution to predictions.</a:t>
            </a:r>
          </a:p>
          <a:p>
            <a:pPr>
              <a:spcAft>
                <a:spcPts val="1400"/>
              </a:spcAft>
              <a:defRPr sz="1800">
                <a:solidFill>
                  <a:srgbClr val="2A303A"/>
                </a:solidFill>
                <a:latin typeface="Aptos"/>
              </a:defRPr>
            </a:pPr>
            <a:r>
              <a:t>Expected pattern to check in the dataset: smoking status and age may be strongly associated with insurance charges; confirm this against your generated plots.</a:t>
            </a:r>
          </a:p>
          <a:p>
            <a:pPr>
              <a:spcAft>
                <a:spcPts val="1400"/>
              </a:spcAft>
              <a:defRPr sz="1800">
                <a:solidFill>
                  <a:srgbClr val="2A303A"/>
                </a:solidFill>
                <a:latin typeface="Aptos"/>
              </a:defRPr>
            </a:pPr>
            <a:r>
              <a:t>Best model: select the model with the lower test RMSE in the Colab results 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6"/>
                </a:solidFill>
              </a:defRPr>
            </a:pPr>
            <a:r>
              <a:t>GADEELA AKSHAYA  |  AIML Minor Project             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B4C"/>
                </a:solidFill>
                <a:latin typeface="Aptos Display"/>
              </a:defRPr>
            </a:pPr>
            <a:r>
              <a:t>8. Conclusion, 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6"/>
                </a:solidFill>
              </a:defRPr>
            </a:pPr>
            <a:r>
              <a:t>Responsible interpretation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1005840" cy="50292"/>
          </a:xfrm>
          <a:prstGeom prst="rect">
            <a:avLst/>
          </a:prstGeom>
          <a:solidFill>
            <a:srgbClr val="19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3520440" cy="2514600"/>
          </a:xfrm>
          <a:prstGeom prst="roundRect">
            <a:avLst/>
          </a:prstGeom>
          <a:solidFill>
            <a:srgbClr val="EEF4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3154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669B4"/>
                </a:solidFill>
              </a:defRPr>
            </a:pPr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0008"/>
            <a:ext cx="3154680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A303A"/>
                </a:solidFill>
              </a:defRPr>
            </a:pPr>
            <a:r>
              <a:t>This project demonstrates an end-to-end regression workflow: data inspection, cleaning, visualization, model training, and evaluation.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520440" cy="2514600"/>
          </a:xfrm>
          <a:prstGeom prst="roundRect">
            <a:avLst/>
          </a:prstGeom>
          <a:solidFill>
            <a:srgbClr val="EEF4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920240"/>
            <a:ext cx="3154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2822D"/>
                </a:solidFill>
              </a:defRPr>
            </a:pPr>
            <a:r>
              <a:t>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350008"/>
            <a:ext cx="3154680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A303A"/>
                </a:solidFill>
              </a:defRPr>
            </a:pPr>
            <a:r>
              <a:t>The dataset is relatively small and older. Observational relationships do not prove causation, and a single test split provides one performance estimate.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783080"/>
            <a:ext cx="3520440" cy="2514600"/>
          </a:xfrm>
          <a:prstGeom prst="roundRect">
            <a:avLst/>
          </a:prstGeom>
          <a:solidFill>
            <a:srgbClr val="EEF4FA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920240"/>
            <a:ext cx="3154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9191"/>
                </a:solidFill>
              </a:defRPr>
            </a:pPr>
            <a:r>
              <a:t>Future improvements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350008"/>
            <a:ext cx="3154680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A303A"/>
                </a:solidFill>
              </a:defRPr>
            </a:pPr>
            <a:r>
              <a:t>Use cross-validation and tuning, validate on newer representative data, inspect subgroup errors, and review fairness before real-world use.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09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A303A"/>
                </a:solidFill>
                <a:latin typeface="Aptos"/>
              </a:defRPr>
            </a:pPr>
            <a:r>
              <a:t>This educational model should not be used to make real insurance or medical decisions.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976"/>
                </a:solidFill>
              </a:defRPr>
            </a:pPr>
            <a:r>
              <a:t>GADEELA AKSHAYA  |  AIML Minor Project                            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971800"/>
            <a:ext cx="9784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CDDCEF"/>
                </a:solidFill>
              </a:defRPr>
            </a:pPr>
            <a:r>
              <a:t>Presented by GADEELA AKSHAYA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16636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AIML Minor Project | Medical Insurance Cost Prediction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